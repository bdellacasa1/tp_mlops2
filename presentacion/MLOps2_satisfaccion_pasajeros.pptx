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caso en una frase: predecir si el pasajero queda satisfecho usando solo datos que la aerolínea ya tiene al cierre del vuelo. La presentación describe el servicio y cierra con la demo. Si MLflow está abierto, el ROC AUC se muestra ahí, no se cita de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Remarcar por qué no se usan los scores de la encuesta: el servicio tiene que funcionar con datos operativos. El nombre del modelo en el registry es airline_satisfaction_without_scores. No citar un AUC si no está a la vista en MLflow.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la plataforma como un solo sistema. Airflow orquesta, MLflow versiona, MinIO guarda datos y artefactos, FastAPI sirve el champion y Streamlit es la misma predicción para una persona. Docker Compose levanta todo junto.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hay demo, esta diapositiva es el mapa. DAG real: weekly_airline_retraining. Tareas: monitor_raw_data, run_training_pipeline, validate_champion, reload_api_model, validate_api. Decir que el modelo se recarga en caliente.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la demo: un JSON válido en Swagger y uno con Age 200 para ver el 422. /health y POST /reload-model forman parte del servicio: Airflow llama a reload cuando termina el reentrenamiento.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Nombrar los cuatro componentes y un control de cada uno. Umbrales que se pueden decir: nulos 10 %, estabilidad 90 %, paridad de género 95 %. Si la corrida robustness_audit está en MLflow, mostrar el tag y el gráfico SHAP. No inventar el porcentaje medido.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Orden: Streamlit, Swagger con un caso válido y otro con Age 200, MLflow (champion y SHAP si está la corrida), Airflow DAG weekly_airline_retraining. Si preguntan por otro protocolo, el servicio que se demuestra es esta API. Seguir con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08948"/>
                </a:solidFill>
                <a:latin typeface="Calibri"/>
              </a:rPr>
              <a:t>CEIA  ·  FIUBA  ·  OPERACIONES DE APRENDIZAJE AUTOMÁTICO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Predicción de satisfacción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de pasajeros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999232"/>
            <a:ext cx="1280160" cy="41148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D5E4E6"/>
                </a:solidFill>
                <a:latin typeface="Calibri"/>
              </a:rPr>
              <a:t>Plataforma MLOps para inferencia en tiempo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Belén Della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C3C"/>
                </a:solidFill>
                <a:latin typeface="Calibri"/>
              </a:rPr>
              <a:t>El caso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713232"/>
            <a:ext cx="1051560" cy="41148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B73"/>
                </a:solidFill>
                <a:latin typeface="Calibri"/>
              </a:rPr>
              <a:t>Anticipar la satisfacción del pasajero con lo que la aerolínea ya conoce al cierre del vuelo.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903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73152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45336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2C3C"/>
                </a:solidFill>
                <a:latin typeface="Calibri"/>
              </a:rPr>
              <a:t>Clasificación binaria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Calibri"/>
              </a:rPr>
              <a:t>satisfied frente a neutral or dissatisfied.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87752"/>
            <a:ext cx="6903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87752"/>
            <a:ext cx="73152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1576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2C3C"/>
                </a:solidFill>
                <a:latin typeface="Calibri"/>
              </a:rPr>
              <a:t>Ocho features operativas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26664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Calibri"/>
              </a:rPr>
              <a:t>Perfil del pasajero, clase, distancia y demoras. Sin puntajes de encuesta: esos puntajes casi son la respuesta.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58184"/>
            <a:ext cx="6903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58184"/>
            <a:ext cx="73152" cy="105156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2C3C"/>
                </a:solidFill>
                <a:latin typeface="Calibri"/>
              </a:rPr>
              <a:t>Dos modelos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97096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Calibri"/>
              </a:rPr>
              <a:t>XGBoost y Random Forest. El champion es el de mayor ROC AUC en test. El segundo queda como challenger.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1417320"/>
            <a:ext cx="4114800" cy="4434840"/>
          </a:xfrm>
          <a:prstGeom prst="roundRect">
            <a:avLst>
              <a:gd name="adj" fmla="val 8000"/>
            </a:avLst>
          </a:prstGeom>
          <a:solidFill>
            <a:srgbClr val="0F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600200"/>
            <a:ext cx="3703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08948"/>
                </a:solidFill>
                <a:latin typeface="Calibri"/>
              </a:rPr>
              <a:t>FEATURES DEL CHAMPION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190195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airline_satisfaction_without_scores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468880"/>
            <a:ext cx="3657600" cy="3017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7F2F2"/>
                </a:solidFill>
                <a:latin typeface="Calibri"/>
              </a:rPr>
              <a:t>Gender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7F2F2"/>
                </a:solidFill>
                <a:latin typeface="Calibri"/>
              </a:rPr>
              <a:t>Customer Type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7F2F2"/>
                </a:solidFill>
                <a:latin typeface="Calibri"/>
              </a:rPr>
              <a:t>Type of Travel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7F2F2"/>
                </a:solidFill>
                <a:latin typeface="Calibri"/>
              </a:rPr>
              <a:t>Class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7F2F2"/>
                </a:solidFill>
                <a:latin typeface="Calibri"/>
              </a:rPr>
              <a:t>Age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7F2F2"/>
                </a:solidFill>
                <a:latin typeface="Calibri"/>
              </a:rPr>
              <a:t>Flight Distance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7F2F2"/>
                </a:solidFill>
                <a:latin typeface="Calibri"/>
              </a:rPr>
              <a:t>Departure Delay in Minutes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7F2F2"/>
                </a:solidFill>
                <a:latin typeface="Calibri"/>
              </a:rPr>
              <a:t>Arrival Delay in Minutes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629400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MLOps II  ·  Satisfacción de pasajeros  ·  Belén Della Casa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29400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2  / 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C3C"/>
                </a:solidFill>
                <a:latin typeface="Calibri"/>
              </a:rPr>
              <a:t>La plataforma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713232"/>
            <a:ext cx="1051560" cy="41148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B73"/>
                </a:solidFill>
                <a:latin typeface="Calibri"/>
              </a:rPr>
              <a:t>Un solo servicio: entrena, registra el champion y lo expone para predecir.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270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2C3C"/>
                </a:solidFill>
                <a:latin typeface="Calibri"/>
              </a:rPr>
              <a:t>Airflow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527048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Calibri"/>
              </a:rPr>
              <a:t>Reentrenamiento semanal, domingos 23:59, o manual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48840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2C3C"/>
                </a:solidFill>
                <a:latin typeface="Calibri"/>
              </a:rPr>
              <a:t>MLflow +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350008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Calibri"/>
              </a:rPr>
              <a:t>Experimentos, métricas y Model Registry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71800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729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2C3C"/>
                </a:solidFill>
                <a:latin typeface="Calibri"/>
              </a:rPr>
              <a:t>MinIO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172968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Calibri"/>
              </a:rPr>
              <a:t>Datasets y artefactos, sin depender de Drive en cada entrenamiento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94760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959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2C3C"/>
                </a:solidFill>
                <a:latin typeface="Calibri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995928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Calibri"/>
              </a:rPr>
              <a:t>Predicción online del champion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617720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188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2C3C"/>
                </a:solidFill>
                <a:latin typeface="Calibri"/>
              </a:rPr>
              <a:t>Streamlit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818888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Calibri"/>
              </a:rPr>
              <a:t>La misma predicción, para una persona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40680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418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2C3C"/>
                </a:solidFill>
                <a:latin typeface="Calibri"/>
              </a:rPr>
              <a:t>Docker Compose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5641848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Calibri"/>
              </a:rPr>
              <a:t>Todo el entorno se levanta junto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29400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MLOps II  ·  Satisfacción de pasajeros  ·  Belén Della Casa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629400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3  / 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C3C"/>
                </a:solidFill>
                <a:latin typeface="Calibri"/>
              </a:rPr>
              <a:t>Arquitectura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713232"/>
            <a:ext cx="1051560" cy="41148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B73"/>
                </a:solidFill>
                <a:latin typeface="Calibri"/>
              </a:rPr>
              <a:t>El entrenamiento y la predicción corren separados.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623560" cy="438912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52120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Entrenamiento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166360" cy="2926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1   Airflow dispara el pipeline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2   Valida el CSV. Si falla, no entrena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3   Entrena, evalúa y registra en MLflow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4   Reasigna champion y challenger por ROC AUC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5   POST /reload-model actualiza la API sin reiniciar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53212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532120" cy="438912"/>
          </a:xfrm>
          <a:prstGeom prst="rect">
            <a:avLst/>
          </a:prstGeom>
          <a:solidFill>
            <a:srgbClr val="0F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89888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Predicción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5074920" cy="2926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1   Streamlit o un cliente llaman a POST /predict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2   Pydantic valida la entrada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3   El champion responde desde memoria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4   La respuesta trae clase, probabilidad y versión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285232"/>
            <a:ext cx="2194560" cy="1097280"/>
          </a:xfrm>
          <a:prstGeom prst="roundRect">
            <a:avLst>
              <a:gd name="adj" fmla="val 8000"/>
            </a:avLst>
          </a:prstGeom>
          <a:solidFill>
            <a:srgbClr val="E7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413248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B73"/>
                </a:solidFill>
                <a:latin typeface="Calibri"/>
              </a:rPr>
              <a:t>Streamlit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7424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2C3C"/>
                </a:solidFill>
                <a:latin typeface="Calibri"/>
              </a:rPr>
              <a:t>localhost:8501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5285232"/>
            <a:ext cx="2194560" cy="1097280"/>
          </a:xfrm>
          <a:prstGeom prst="roundRect">
            <a:avLst>
              <a:gd name="adj" fmla="val 8000"/>
            </a:avLst>
          </a:prstGeom>
          <a:solidFill>
            <a:srgbClr val="E7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5413248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B73"/>
                </a:solidFill>
                <a:latin typeface="Calibri"/>
              </a:rP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7424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2C3C"/>
                </a:solidFill>
                <a:latin typeface="Calibri"/>
              </a:rPr>
              <a:t>localhost:8000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5285232"/>
            <a:ext cx="2194560" cy="1097280"/>
          </a:xfrm>
          <a:prstGeom prst="roundRect">
            <a:avLst>
              <a:gd name="adj" fmla="val 8000"/>
            </a:avLst>
          </a:prstGeom>
          <a:solidFill>
            <a:srgbClr val="E7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5413248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B73"/>
                </a:solidFill>
                <a:latin typeface="Calibri"/>
              </a:rPr>
              <a:t>MLflow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57424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2C3C"/>
                </a:solidFill>
                <a:latin typeface="Calibri"/>
              </a:rPr>
              <a:t>localhost:5001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5285232"/>
            <a:ext cx="2194560" cy="1097280"/>
          </a:xfrm>
          <a:prstGeom prst="roundRect">
            <a:avLst>
              <a:gd name="adj" fmla="val 8000"/>
            </a:avLst>
          </a:prstGeom>
          <a:solidFill>
            <a:srgbClr val="E7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5413248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B73"/>
                </a:solidFill>
                <a:latin typeface="Calibri"/>
              </a:rPr>
              <a:t>Airflow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7424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2C3C"/>
                </a:solidFill>
                <a:latin typeface="Calibri"/>
              </a:rPr>
              <a:t>localhost:8080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59" y="5285232"/>
            <a:ext cx="2194560" cy="1097280"/>
          </a:xfrm>
          <a:prstGeom prst="roundRect">
            <a:avLst>
              <a:gd name="adj" fmla="val 8000"/>
            </a:avLst>
          </a:prstGeom>
          <a:solidFill>
            <a:srgbClr val="E7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5413248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B73"/>
                </a:solidFill>
                <a:latin typeface="Calibri"/>
              </a:rPr>
              <a:t>MinIO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799" y="57424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2C3C"/>
                </a:solidFill>
                <a:latin typeface="Calibri"/>
              </a:rPr>
              <a:t>localhost:9101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29400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MLOps II  ·  Satisfacción de pasajeros  ·  Belén Della Casa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629400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4  / 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C3C"/>
                </a:solidFill>
                <a:latin typeface="Calibri"/>
              </a:rPr>
              <a:t>El contrato de la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713232"/>
            <a:ext cx="1051560" cy="41148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B73"/>
                </a:solidFill>
                <a:latin typeface="Calibri"/>
              </a:rPr>
              <a:t>POST /predict  ·  modelo airline_satisfaction_without_scores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562356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78"/>
                </a:solidFill>
                <a:latin typeface="Calibri"/>
              </a:rPr>
              <a:t>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2651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Gender, Customer Type, Type of Travel, Class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Age entre 0 y 120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Flight Distance mayor o igual a 0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Departure Delay y Arrival Delay mayores o iguales a 0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Cualquier campo extra está prohibido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53212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3619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78"/>
                </a:solidFill>
                <a:latin typeface="Calibri"/>
              </a:rPr>
              <a:t>SALIDA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5029200" cy="2651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prediction y label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probability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model_name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model_alias  ·  champion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model_version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02920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93792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08948"/>
                </a:solidFill>
                <a:latin typeface="Calibri"/>
              </a:rPr>
              <a:t>422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235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Calibri"/>
              </a:rPr>
              <a:t>Edad fuera de rango, demora negativa o un campo de más.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029200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5193792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08948"/>
                </a:solidFill>
                <a:latin typeface="Calibri"/>
              </a:rPr>
              <a:t>503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623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830"/>
                </a:solidFill>
                <a:latin typeface="Calibri"/>
              </a:rPr>
              <a:t>Sin modelo en memoria, la predicción responde 503. /health sigue disponible.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629400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MLOps II  ·  Satisfacción de pasajeros  ·  Belén Della Casa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629400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5  / 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C3C"/>
                </a:solidFill>
                <a:latin typeface="Calibri"/>
              </a:rPr>
              <a:t>Seguridad y gobernanza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713232"/>
            <a:ext cx="1051560" cy="41148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B73"/>
                </a:solidFill>
                <a:latin typeface="Calibri"/>
              </a:rPr>
              <a:t>La protección recorre datos, aplicación, modelo y operación.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53312"/>
            <a:ext cx="55321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73152" cy="228600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54480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C3C"/>
                </a:solidFill>
                <a:latin typeface="Calibri"/>
              </a:rPr>
              <a:t>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39112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Airflow valida el esquema, los nulos bajo el 10 %, la edad y las demoras. Si el control falla, el entrenamiento no arranca.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53312"/>
            <a:ext cx="55321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53312"/>
            <a:ext cx="73152" cy="228600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554480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C3C"/>
                </a:solidFill>
                <a:latin typeface="Calibri"/>
              </a:rPr>
              <a:t>Aplicación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039112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Pydantic rechaza la entrada inválida con 422. Las credenciales viven en variables de entorno, fuera del repositorio.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94760"/>
            <a:ext cx="55321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794760"/>
            <a:ext cx="73152" cy="228600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995928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C3C"/>
                </a:solidFill>
                <a:latin typeface="Calibri"/>
              </a:rPr>
              <a:t>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48056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Estabilidad ante ruido, paridad al cambiar Gender y una demora de 300 minutos que no debe subir la satisfacción. SHAP queda en MLflow.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94760"/>
            <a:ext cx="55321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94760"/>
            <a:ext cx="73152" cy="2286000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995928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C3C"/>
                </a:solidFill>
                <a:latin typeface="Calibri"/>
              </a:rPr>
              <a:t>Operación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448056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Calibri"/>
              </a:rPr>
              <a:t>Champion y challenger por ROC AUC. Airflow recarga la API al terminar. La auditoría queda en la corrida robustness_audit.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629400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MLOps II  ·  Satisfacción de pasajeros  ·  Belén Della Casa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29400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6  /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C3C"/>
                </a:solidFill>
                <a:latin typeface="Calibri"/>
              </a:rP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713232"/>
            <a:ext cx="1051560" cy="41148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B73"/>
                </a:solidFill>
                <a:latin typeface="Calibri"/>
              </a:rPr>
              <a:t>Cuatro pantallas del mismo ciclo.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530352" cy="530352"/>
          </a:xfrm>
          <a:prstGeom prst="roundRect">
            <a:avLst>
              <a:gd name="adj" fmla="val 8000"/>
            </a:avLst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92224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5727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C3C"/>
                </a:solidFill>
                <a:latin typeface="Calibri"/>
              </a:rPr>
              <a:t>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56816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6F78"/>
                </a:solidFill>
                <a:latin typeface="Calibri"/>
              </a:rPr>
              <a:t>localhost:8501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19072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Calibri"/>
              </a:rPr>
              <a:t>Un pasajero de clase Business, viaje de negocios, poca demora.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51760"/>
            <a:ext cx="11247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980944"/>
            <a:ext cx="530352" cy="530352"/>
          </a:xfrm>
          <a:prstGeom prst="roundRect">
            <a:avLst>
              <a:gd name="adj" fmla="val 8000"/>
            </a:avLst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72384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8529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C3C"/>
                </a:solidFill>
                <a:latin typeface="Calibri"/>
              </a:rPr>
              <a:t>Swagger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36976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6F78"/>
                </a:solidFill>
                <a:latin typeface="Calibri"/>
              </a:rPr>
              <a:t>localhost:8000/docs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999232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Calibri"/>
              </a:rPr>
              <a:t>El mismo JSON, y uno con edad 200 para ver el 422.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11247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4261104"/>
            <a:ext cx="530352" cy="530352"/>
          </a:xfrm>
          <a:prstGeom prst="roundRect">
            <a:avLst>
              <a:gd name="adj" fmla="val 8000"/>
            </a:avLst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52544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133087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C3C"/>
                </a:solidFill>
                <a:latin typeface="Calibri"/>
              </a:rPr>
              <a:t>MLflow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6F78"/>
                </a:solidFill>
                <a:latin typeface="Calibri"/>
              </a:rPr>
              <a:t>localhost:5001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279392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Calibri"/>
              </a:rPr>
              <a:t>El experimento, el alias champion y el gráfico SHAP.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12079"/>
            <a:ext cx="11247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5541264"/>
            <a:ext cx="530352" cy="530352"/>
          </a:xfrm>
          <a:prstGeom prst="roundRect">
            <a:avLst>
              <a:gd name="adj" fmla="val 8000"/>
            </a:avLst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632703"/>
            <a:ext cx="530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413247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C3C"/>
                </a:solidFill>
                <a:latin typeface="Calibri"/>
              </a:rPr>
              <a:t>Airflow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797295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6F78"/>
                </a:solidFill>
                <a:latin typeface="Calibri"/>
              </a:rPr>
              <a:t>localhost:8080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559551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Calibri"/>
              </a:rPr>
              <a:t>Calidad de datos, entrenamiento, champion, recarga y health.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629400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MLOps II  ·  Satisfacción de pasajeros  ·  Belén Della Casa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629400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7  /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satisfacción de pasajeros</dc:title>
  <dc:subject>MLOps II</dc:subject>
  <dc:creator>Belén Della Casa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